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70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AB52EC-2170-43B3-89D4-0EF49BC69273}" v="2" dt="2026-04-22T15:44:08.598"/>
    <p1510:client id="{9B593EE9-1EA5-4450-B16C-FAC272FD5126}" v="28" dt="2026-04-22T04:25:41.092"/>
    <p1510:client id="{AEEEC668-90F7-4720-B20D-E462DF16353C}" v="1" dt="2026-04-22T03:56:37.325"/>
    <p1510:client id="{D2A46091-C6A1-4F4B-9B5D-3021E80BAA18}" v="22" dt="2026-04-22T15:44:58.7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, Nicholas Anthony" userId="S::nat210000@utdallas.edu::4b63824e-2732-4761-ab3a-f279c01b8d2e" providerId="AD" clId="Web-{5AAB52EC-2170-43B3-89D4-0EF49BC69273}"/>
    <pc:docChg chg="modSld">
      <pc:chgData name="Thomas, Nicholas Anthony" userId="S::nat210000@utdallas.edu::4b63824e-2732-4761-ab3a-f279c01b8d2e" providerId="AD" clId="Web-{5AAB52EC-2170-43B3-89D4-0EF49BC69273}" dt="2026-04-22T15:44:08.598" v="0" actId="20577"/>
      <pc:docMkLst>
        <pc:docMk/>
      </pc:docMkLst>
      <pc:sldChg chg="modSp">
        <pc:chgData name="Thomas, Nicholas Anthony" userId="S::nat210000@utdallas.edu::4b63824e-2732-4761-ab3a-f279c01b8d2e" providerId="AD" clId="Web-{5AAB52EC-2170-43B3-89D4-0EF49BC69273}" dt="2026-04-22T15:44:08.598" v="0" actId="20577"/>
        <pc:sldMkLst>
          <pc:docMk/>
          <pc:sldMk cId="0" sldId="261"/>
        </pc:sldMkLst>
        <pc:spChg chg="mod">
          <ac:chgData name="Thomas, Nicholas Anthony" userId="S::nat210000@utdallas.edu::4b63824e-2732-4761-ab3a-f279c01b8d2e" providerId="AD" clId="Web-{5AAB52EC-2170-43B3-89D4-0EF49BC69273}" dt="2026-04-22T15:44:08.598" v="0" actId="20577"/>
          <ac:spMkLst>
            <pc:docMk/>
            <pc:sldMk cId="0" sldId="261"/>
            <ac:spMk id="46" creationId="{00000000-0000-0000-0000-000000000000}"/>
          </ac:spMkLst>
        </pc:spChg>
      </pc:sldChg>
    </pc:docChg>
  </pc:docChgLst>
  <pc:docChgLst>
    <pc:chgData name="Thomas, Nicholas Anthony" userId="S::nat210000@utdallas.edu::4b63824e-2732-4761-ab3a-f279c01b8d2e" providerId="AD" clId="Web-{9B593EE9-1EA5-4450-B16C-FAC272FD5126}"/>
    <pc:docChg chg="modSld">
      <pc:chgData name="Thomas, Nicholas Anthony" userId="S::nat210000@utdallas.edu::4b63824e-2732-4761-ab3a-f279c01b8d2e" providerId="AD" clId="Web-{9B593EE9-1EA5-4450-B16C-FAC272FD5126}" dt="2026-04-22T04:25:40.170" v="24" actId="20577"/>
      <pc:docMkLst>
        <pc:docMk/>
      </pc:docMkLst>
      <pc:sldChg chg="modSp">
        <pc:chgData name="Thomas, Nicholas Anthony" userId="S::nat210000@utdallas.edu::4b63824e-2732-4761-ab3a-f279c01b8d2e" providerId="AD" clId="Web-{9B593EE9-1EA5-4450-B16C-FAC272FD5126}" dt="2026-04-22T04:22:20.917" v="22" actId="1076"/>
        <pc:sldMkLst>
          <pc:docMk/>
          <pc:sldMk cId="0" sldId="263"/>
        </pc:sldMkLst>
        <pc:spChg chg="mod">
          <ac:chgData name="Thomas, Nicholas Anthony" userId="S::nat210000@utdallas.edu::4b63824e-2732-4761-ab3a-f279c01b8d2e" providerId="AD" clId="Web-{9B593EE9-1EA5-4450-B16C-FAC272FD5126}" dt="2026-04-22T04:22:10.385" v="2" actId="107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Thomas, Nicholas Anthony" userId="S::nat210000@utdallas.edu::4b63824e-2732-4761-ab3a-f279c01b8d2e" providerId="AD" clId="Web-{9B593EE9-1EA5-4450-B16C-FAC272FD5126}" dt="2026-04-22T04:22:10.401" v="3" actId="107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Thomas, Nicholas Anthony" userId="S::nat210000@utdallas.edu::4b63824e-2732-4761-ab3a-f279c01b8d2e" providerId="AD" clId="Web-{9B593EE9-1EA5-4450-B16C-FAC272FD5126}" dt="2026-04-22T04:22:10.401" v="4" actId="1076"/>
          <ac:spMkLst>
            <pc:docMk/>
            <pc:sldMk cId="0" sldId="263"/>
            <ac:spMk id="19" creationId="{00000000-0000-0000-0000-000000000000}"/>
          </ac:spMkLst>
        </pc:spChg>
        <pc:spChg chg="mod">
          <ac:chgData name="Thomas, Nicholas Anthony" userId="S::nat210000@utdallas.edu::4b63824e-2732-4761-ab3a-f279c01b8d2e" providerId="AD" clId="Web-{9B593EE9-1EA5-4450-B16C-FAC272FD5126}" dt="2026-04-22T04:22:10.432" v="5" actId="1076"/>
          <ac:spMkLst>
            <pc:docMk/>
            <pc:sldMk cId="0" sldId="263"/>
            <ac:spMk id="20" creationId="{00000000-0000-0000-0000-000000000000}"/>
          </ac:spMkLst>
        </pc:spChg>
        <pc:spChg chg="mod">
          <ac:chgData name="Thomas, Nicholas Anthony" userId="S::nat210000@utdallas.edu::4b63824e-2732-4761-ab3a-f279c01b8d2e" providerId="AD" clId="Web-{9B593EE9-1EA5-4450-B16C-FAC272FD5126}" dt="2026-04-22T04:22:10.448" v="6" actId="1076"/>
          <ac:spMkLst>
            <pc:docMk/>
            <pc:sldMk cId="0" sldId="263"/>
            <ac:spMk id="21" creationId="{00000000-0000-0000-0000-000000000000}"/>
          </ac:spMkLst>
        </pc:spChg>
        <pc:spChg chg="mod">
          <ac:chgData name="Thomas, Nicholas Anthony" userId="S::nat210000@utdallas.edu::4b63824e-2732-4761-ab3a-f279c01b8d2e" providerId="AD" clId="Web-{9B593EE9-1EA5-4450-B16C-FAC272FD5126}" dt="2026-04-22T04:22:10.463" v="7" actId="107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Thomas, Nicholas Anthony" userId="S::nat210000@utdallas.edu::4b63824e-2732-4761-ab3a-f279c01b8d2e" providerId="AD" clId="Web-{9B593EE9-1EA5-4450-B16C-FAC272FD5126}" dt="2026-04-22T04:22:10.479" v="8" actId="1076"/>
          <ac:spMkLst>
            <pc:docMk/>
            <pc:sldMk cId="0" sldId="263"/>
            <ac:spMk id="23" creationId="{00000000-0000-0000-0000-000000000000}"/>
          </ac:spMkLst>
        </pc:spChg>
        <pc:spChg chg="mod">
          <ac:chgData name="Thomas, Nicholas Anthony" userId="S::nat210000@utdallas.edu::4b63824e-2732-4761-ab3a-f279c01b8d2e" providerId="AD" clId="Web-{9B593EE9-1EA5-4450-B16C-FAC272FD5126}" dt="2026-04-22T04:22:10.495" v="9" actId="1076"/>
          <ac:spMkLst>
            <pc:docMk/>
            <pc:sldMk cId="0" sldId="263"/>
            <ac:spMk id="24" creationId="{00000000-0000-0000-0000-000000000000}"/>
          </ac:spMkLst>
        </pc:spChg>
        <pc:spChg chg="mod">
          <ac:chgData name="Thomas, Nicholas Anthony" userId="S::nat210000@utdallas.edu::4b63824e-2732-4761-ab3a-f279c01b8d2e" providerId="AD" clId="Web-{9B593EE9-1EA5-4450-B16C-FAC272FD5126}" dt="2026-04-22T04:22:10.510" v="10" actId="1076"/>
          <ac:spMkLst>
            <pc:docMk/>
            <pc:sldMk cId="0" sldId="263"/>
            <ac:spMk id="25" creationId="{00000000-0000-0000-0000-000000000000}"/>
          </ac:spMkLst>
        </pc:spChg>
        <pc:spChg chg="mod">
          <ac:chgData name="Thomas, Nicholas Anthony" userId="S::nat210000@utdallas.edu::4b63824e-2732-4761-ab3a-f279c01b8d2e" providerId="AD" clId="Web-{9B593EE9-1EA5-4450-B16C-FAC272FD5126}" dt="2026-04-22T04:22:10.526" v="11" actId="1076"/>
          <ac:spMkLst>
            <pc:docMk/>
            <pc:sldMk cId="0" sldId="263"/>
            <ac:spMk id="26" creationId="{00000000-0000-0000-0000-000000000000}"/>
          </ac:spMkLst>
        </pc:spChg>
        <pc:spChg chg="mod">
          <ac:chgData name="Thomas, Nicholas Anthony" userId="S::nat210000@utdallas.edu::4b63824e-2732-4761-ab3a-f279c01b8d2e" providerId="AD" clId="Web-{9B593EE9-1EA5-4450-B16C-FAC272FD5126}" dt="2026-04-22T04:22:10.542" v="12" actId="1076"/>
          <ac:spMkLst>
            <pc:docMk/>
            <pc:sldMk cId="0" sldId="263"/>
            <ac:spMk id="27" creationId="{00000000-0000-0000-0000-000000000000}"/>
          </ac:spMkLst>
        </pc:spChg>
        <pc:spChg chg="mod">
          <ac:chgData name="Thomas, Nicholas Anthony" userId="S::nat210000@utdallas.edu::4b63824e-2732-4761-ab3a-f279c01b8d2e" providerId="AD" clId="Web-{9B593EE9-1EA5-4450-B16C-FAC272FD5126}" dt="2026-04-22T04:22:10.557" v="13" actId="1076"/>
          <ac:spMkLst>
            <pc:docMk/>
            <pc:sldMk cId="0" sldId="263"/>
            <ac:spMk id="28" creationId="{00000000-0000-0000-0000-000000000000}"/>
          </ac:spMkLst>
        </pc:spChg>
        <pc:spChg chg="mod">
          <ac:chgData name="Thomas, Nicholas Anthony" userId="S::nat210000@utdallas.edu::4b63824e-2732-4761-ab3a-f279c01b8d2e" providerId="AD" clId="Web-{9B593EE9-1EA5-4450-B16C-FAC272FD5126}" dt="2026-04-22T04:22:10.573" v="14" actId="1076"/>
          <ac:spMkLst>
            <pc:docMk/>
            <pc:sldMk cId="0" sldId="263"/>
            <ac:spMk id="29" creationId="{00000000-0000-0000-0000-000000000000}"/>
          </ac:spMkLst>
        </pc:spChg>
        <pc:spChg chg="mod">
          <ac:chgData name="Thomas, Nicholas Anthony" userId="S::nat210000@utdallas.edu::4b63824e-2732-4761-ab3a-f279c01b8d2e" providerId="AD" clId="Web-{9B593EE9-1EA5-4450-B16C-FAC272FD5126}" dt="2026-04-22T04:22:10.588" v="15" actId="1076"/>
          <ac:spMkLst>
            <pc:docMk/>
            <pc:sldMk cId="0" sldId="263"/>
            <ac:spMk id="30" creationId="{00000000-0000-0000-0000-000000000000}"/>
          </ac:spMkLst>
        </pc:spChg>
        <pc:spChg chg="mod">
          <ac:chgData name="Thomas, Nicholas Anthony" userId="S::nat210000@utdallas.edu::4b63824e-2732-4761-ab3a-f279c01b8d2e" providerId="AD" clId="Web-{9B593EE9-1EA5-4450-B16C-FAC272FD5126}" dt="2026-04-22T04:22:20.917" v="22" actId="1076"/>
          <ac:spMkLst>
            <pc:docMk/>
            <pc:sldMk cId="0" sldId="263"/>
            <ac:spMk id="31" creationId="{00000000-0000-0000-0000-000000000000}"/>
          </ac:spMkLst>
        </pc:spChg>
        <pc:spChg chg="mod">
          <ac:chgData name="Thomas, Nicholas Anthony" userId="S::nat210000@utdallas.edu::4b63824e-2732-4761-ab3a-f279c01b8d2e" providerId="AD" clId="Web-{9B593EE9-1EA5-4450-B16C-FAC272FD5126}" dt="2026-04-22T04:22:15.448" v="21" actId="1076"/>
          <ac:spMkLst>
            <pc:docMk/>
            <pc:sldMk cId="0" sldId="263"/>
            <ac:spMk id="32" creationId="{00000000-0000-0000-0000-000000000000}"/>
          </ac:spMkLst>
        </pc:spChg>
        <pc:spChg chg="mod">
          <ac:chgData name="Thomas, Nicholas Anthony" userId="S::nat210000@utdallas.edu::4b63824e-2732-4761-ab3a-f279c01b8d2e" providerId="AD" clId="Web-{9B593EE9-1EA5-4450-B16C-FAC272FD5126}" dt="2026-04-22T04:22:10.635" v="18" actId="1076"/>
          <ac:spMkLst>
            <pc:docMk/>
            <pc:sldMk cId="0" sldId="263"/>
            <ac:spMk id="36" creationId="{57478258-9442-6416-0DE7-5F1AAF92F45D}"/>
          </ac:spMkLst>
        </pc:spChg>
        <pc:spChg chg="mod">
          <ac:chgData name="Thomas, Nicholas Anthony" userId="S::nat210000@utdallas.edu::4b63824e-2732-4761-ab3a-f279c01b8d2e" providerId="AD" clId="Web-{9B593EE9-1EA5-4450-B16C-FAC272FD5126}" dt="2026-04-22T04:22:10.651" v="19" actId="1076"/>
          <ac:spMkLst>
            <pc:docMk/>
            <pc:sldMk cId="0" sldId="263"/>
            <ac:spMk id="39" creationId="{68CB0007-0C05-7813-309E-CCFAE82E0F5B}"/>
          </ac:spMkLst>
        </pc:spChg>
        <pc:spChg chg="mod">
          <ac:chgData name="Thomas, Nicholas Anthony" userId="S::nat210000@utdallas.edu::4b63824e-2732-4761-ab3a-f279c01b8d2e" providerId="AD" clId="Web-{9B593EE9-1EA5-4450-B16C-FAC272FD5126}" dt="2026-04-22T04:22:10.667" v="20" actId="1076"/>
          <ac:spMkLst>
            <pc:docMk/>
            <pc:sldMk cId="0" sldId="263"/>
            <ac:spMk id="40" creationId="{E29C7080-FDA3-046A-D442-8497E6F8B8A4}"/>
          </ac:spMkLst>
        </pc:spChg>
      </pc:sldChg>
      <pc:sldChg chg="modSp">
        <pc:chgData name="Thomas, Nicholas Anthony" userId="S::nat210000@utdallas.edu::4b63824e-2732-4761-ab3a-f279c01b8d2e" providerId="AD" clId="Web-{9B593EE9-1EA5-4450-B16C-FAC272FD5126}" dt="2026-04-22T04:25:40.170" v="24" actId="20577"/>
        <pc:sldMkLst>
          <pc:docMk/>
          <pc:sldMk cId="0" sldId="270"/>
        </pc:sldMkLst>
        <pc:spChg chg="mod">
          <ac:chgData name="Thomas, Nicholas Anthony" userId="S::nat210000@utdallas.edu::4b63824e-2732-4761-ab3a-f279c01b8d2e" providerId="AD" clId="Web-{9B593EE9-1EA5-4450-B16C-FAC272FD5126}" dt="2026-04-22T04:25:40.170" v="24" actId="20577"/>
          <ac:spMkLst>
            <pc:docMk/>
            <pc:sldMk cId="0" sldId="270"/>
            <ac:spMk id="20" creationId="{00000000-0000-0000-0000-000000000000}"/>
          </ac:spMkLst>
        </pc:spChg>
      </pc:sldChg>
    </pc:docChg>
  </pc:docChgLst>
  <pc:docChgLst>
    <pc:chgData name="Thomas, Nicholas Anthony" userId="S::nat210000@utdallas.edu::4b63824e-2732-4761-ab3a-f279c01b8d2e" providerId="AD" clId="Web-{D2A46091-C6A1-4F4B-9B5D-3021E80BAA18}"/>
    <pc:docChg chg="modSld">
      <pc:chgData name="Thomas, Nicholas Anthony" userId="S::nat210000@utdallas.edu::4b63824e-2732-4761-ab3a-f279c01b8d2e" providerId="AD" clId="Web-{D2A46091-C6A1-4F4B-9B5D-3021E80BAA18}" dt="2026-04-22T15:44:58.611" v="8" actId="20577"/>
      <pc:docMkLst>
        <pc:docMk/>
      </pc:docMkLst>
      <pc:sldChg chg="modSp">
        <pc:chgData name="Thomas, Nicholas Anthony" userId="S::nat210000@utdallas.edu::4b63824e-2732-4761-ab3a-f279c01b8d2e" providerId="AD" clId="Web-{D2A46091-C6A1-4F4B-9B5D-3021E80BAA18}" dt="2026-04-22T15:44:58.611" v="8" actId="20577"/>
        <pc:sldMkLst>
          <pc:docMk/>
          <pc:sldMk cId="0" sldId="261"/>
        </pc:sldMkLst>
        <pc:spChg chg="mod">
          <ac:chgData name="Thomas, Nicholas Anthony" userId="S::nat210000@utdallas.edu::4b63824e-2732-4761-ab3a-f279c01b8d2e" providerId="AD" clId="Web-{D2A46091-C6A1-4F4B-9B5D-3021E80BAA18}" dt="2026-04-22T15:44:58.611" v="8" actId="20577"/>
          <ac:spMkLst>
            <pc:docMk/>
            <pc:sldMk cId="0" sldId="261"/>
            <ac:spMk id="46" creationId="{00000000-0000-0000-0000-000000000000}"/>
          </ac:spMkLst>
        </pc:spChg>
      </pc:sldChg>
    </pc:docChg>
  </pc:docChgLst>
  <pc:docChgLst>
    <pc:chgData name="Thomas, Nicholas Anthony" userId="S::nat210000@utdallas.edu::4b63824e-2732-4761-ab3a-f279c01b8d2e" providerId="AD" clId="Web-{AEEEC668-90F7-4720-B20D-E462DF16353C}"/>
    <pc:docChg chg="delSld">
      <pc:chgData name="Thomas, Nicholas Anthony" userId="S::nat210000@utdallas.edu::4b63824e-2732-4761-ab3a-f279c01b8d2e" providerId="AD" clId="Web-{AEEEC668-90F7-4720-B20D-E462DF16353C}" dt="2026-04-22T03:56:37.325" v="0"/>
      <pc:docMkLst>
        <pc:docMk/>
      </pc:docMkLst>
      <pc:sldChg chg="del">
        <pc:chgData name="Thomas, Nicholas Anthony" userId="S::nat210000@utdallas.edu::4b63824e-2732-4761-ab3a-f279c01b8d2e" providerId="AD" clId="Web-{AEEEC668-90F7-4720-B20D-E462DF16353C}" dt="2026-04-22T03:56:37.325" v="0"/>
        <pc:sldMkLst>
          <pc:docMk/>
          <pc:sldMk cId="0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2377440" cy="502920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TriageIQ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83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AI-Assisted Emergency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834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5A623"/>
                </a:solidFill>
              </a:rPr>
              <a:t>Clinical Decision Support for Emergency Nurses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160520"/>
            <a:ext cx="5486400" cy="36576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4343400"/>
            <a:ext cx="7315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>
                <a:solidFill>
                  <a:srgbClr val="E8EFF8"/>
                </a:solidFill>
              </a:rPr>
              <a:t>Mamadou Diallo, Nicholas Thomas, Ivin Anil</a:t>
            </a:r>
            <a:endParaRPr lang="en-US" sz="1300" b="0" i="0">
              <a:solidFill>
                <a:srgbClr val="E8EFF8"/>
              </a:solidFill>
            </a:endParaRPr>
          </a:p>
          <a:p>
            <a:pPr algn="l"/>
            <a:r>
              <a:rPr sz="1300" b="0" i="0">
                <a:solidFill>
                  <a:srgbClr val="E8EFF8"/>
                </a:solidFill>
              </a:rPr>
              <a:t>BUAN 6v99.s01  ·  UT Dallas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</a:rPr>
              <a:t>ER Triage Is High-Stakes and Time-Pressured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556248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</a:rPr>
              <a:t>BUAN 6v99.s01  ·  UT Dallas  · 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1143000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</a:rPr>
              <a:t>• Emergency departments see </a:t>
            </a:r>
            <a:r>
              <a:rPr sz="2000" u="sng">
                <a:solidFill>
                  <a:srgbClr val="FFFFFF"/>
                </a:solidFill>
              </a:rPr>
              <a:t>millions of patients </a:t>
            </a:r>
            <a:r>
              <a:rPr sz="2000">
                <a:solidFill>
                  <a:srgbClr val="FFFFFF"/>
                </a:solidFill>
              </a:rPr>
              <a:t>annually — nurses must assign an ESI score within minutes of arrival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</a:rPr>
              <a:t>• </a:t>
            </a:r>
            <a:r>
              <a:rPr sz="2000" u="sng">
                <a:solidFill>
                  <a:srgbClr val="FFFFFF"/>
                </a:solidFill>
              </a:rPr>
              <a:t>Cognitive overload</a:t>
            </a:r>
            <a:r>
              <a:rPr sz="2000">
                <a:solidFill>
                  <a:srgbClr val="FFFFFF"/>
                </a:solidFill>
              </a:rPr>
              <a:t>: nurses simultaneously assess vitals, chief complaint, history, and resource availability under pressure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</a:rPr>
              <a:t>• </a:t>
            </a:r>
            <a:r>
              <a:rPr sz="2000" u="sng">
                <a:solidFill>
                  <a:srgbClr val="FFFFFF"/>
                </a:solidFill>
              </a:rPr>
              <a:t>Inconsistent triage scoring </a:t>
            </a:r>
            <a:r>
              <a:rPr sz="2000">
                <a:solidFill>
                  <a:srgbClr val="FFFFFF"/>
                </a:solidFill>
              </a:rPr>
              <a:t>increases risk: under-triaging delays critical care; over-triaging wastes scarce resources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</a:rPr>
              <a:t>• Protocol knowledge is vast — no single nurse can recall every guideline in real time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</a:rPr>
              <a:t>• Consequence of error: delayed intervention for STEMI, stroke, sepsis, or respiratory failure can cost lives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</a:rPr>
              <a:t>Existing Tools Don't Go Far Enough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556248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</a:rPr>
              <a:t>BUAN 6v99.s01  ·  UT Dallas  · 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1143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• EHR systems record data but don't synthesize it into a recommendation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• Protocol lookup tools exist but require the nurse to know what to search for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• No widely adopted tool brings vitals analysis, symptom classification, protocol matching, and resource allocation together in one workflow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• Nurses are left to mentally integrate all inputs under time pressure — alone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114800"/>
            <a:ext cx="9418320" cy="2103120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55974" y="4251960"/>
            <a:ext cx="2011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i="0">
                <a:solidFill>
                  <a:srgbClr val="F5A623"/>
                </a:solidFill>
              </a:rPr>
              <a:t>    </a:t>
            </a:r>
            <a:r>
              <a:rPr sz="1300" b="1" i="0">
                <a:solidFill>
                  <a:srgbClr val="F5A623"/>
                </a:solidFill>
              </a:rPr>
              <a:t>Vitals 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3414" y="4251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EHR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0854" y="4251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Protocol Binder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88294" y="4251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Bed 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9420" y="4617720"/>
            <a:ext cx="3153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>
                <a:solidFill>
                  <a:srgbClr val="E8EFF8"/>
                </a:solidFill>
              </a:rPr>
              <a:t>↓</a:t>
            </a:r>
            <a:endParaRPr sz="1400" b="0" i="0">
              <a:solidFill>
                <a:srgbClr val="E8EFF8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091558" y="4983480"/>
            <a:ext cx="7819695" cy="502920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600" y="5029200"/>
            <a:ext cx="25603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NURSE  (mental integration)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5778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E8EFF8"/>
                </a:solidFill>
              </a:rPr>
              <a:t>Single point of failure under time pressure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431DD8-1C0A-D5B8-732B-CAA6ACBEDBA5}"/>
              </a:ext>
            </a:extLst>
          </p:cNvPr>
          <p:cNvSpPr txBox="1"/>
          <p:nvPr/>
        </p:nvSpPr>
        <p:spPr>
          <a:xfrm>
            <a:off x="4642944" y="4572000"/>
            <a:ext cx="3153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>
                <a:solidFill>
                  <a:srgbClr val="E8EFF8"/>
                </a:solidFill>
              </a:rPr>
              <a:t>↓</a:t>
            </a:r>
            <a:endParaRPr sz="1400" b="0" i="0">
              <a:solidFill>
                <a:srgbClr val="E8EFF8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6F69C7-067B-9168-A519-853B530CE283}"/>
              </a:ext>
            </a:extLst>
          </p:cNvPr>
          <p:cNvSpPr txBox="1"/>
          <p:nvPr/>
        </p:nvSpPr>
        <p:spPr>
          <a:xfrm>
            <a:off x="7236791" y="4549140"/>
            <a:ext cx="3153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>
                <a:solidFill>
                  <a:srgbClr val="E8EFF8"/>
                </a:solidFill>
              </a:rPr>
              <a:t>↓</a:t>
            </a:r>
            <a:endParaRPr sz="1400" b="0" i="0">
              <a:solidFill>
                <a:srgbClr val="E8EFF8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10EF4E-6385-610F-FF93-E9EA8DDB32A8}"/>
              </a:ext>
            </a:extLst>
          </p:cNvPr>
          <p:cNvSpPr txBox="1"/>
          <p:nvPr/>
        </p:nvSpPr>
        <p:spPr>
          <a:xfrm>
            <a:off x="9380458" y="4580936"/>
            <a:ext cx="3153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>
                <a:solidFill>
                  <a:srgbClr val="E8EFF8"/>
                </a:solidFill>
              </a:rPr>
              <a:t>↓</a:t>
            </a:r>
            <a:endParaRPr sz="1400" b="0" i="0">
              <a:solidFill>
                <a:srgbClr val="E8EFF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</a:rPr>
              <a:t>TriageIQ — An AI Triage Team in Your Browser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556248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</a:rPr>
              <a:t>BUAN 6v99.s01  ·  UT Dallas  · 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749807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Simulates a team of specialist AI agents analyzing the patient in parallel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Input: patient vitals, chief complaint, and medical history (EHR or free-text)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Output in seconds: ESI score (1–5), prioritized action checklist, matched clinical protocols, and bed recommendation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The nurse makes the final call — all recommendations are auditable and overridable with a documented reason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371600"/>
            <a:ext cx="3657600" cy="4846320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0" y="1371600"/>
            <a:ext cx="3657600" cy="502920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3898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2011680"/>
            <a:ext cx="3383280" cy="50292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204825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ESI Score  1–5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2633472"/>
            <a:ext cx="3383280" cy="50292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267004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Action Checklist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3255264"/>
            <a:ext cx="3383280" cy="50292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3291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Matched Protocol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66760" y="3877056"/>
            <a:ext cx="3383280" cy="50292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58200" y="39136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Bed Recommendation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4498848"/>
            <a:ext cx="3383280" cy="50292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8200" y="453542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Nurse Override Panel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5120640"/>
            <a:ext cx="3383280" cy="50292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58200" y="515721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Ask AI Chat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30352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5A623"/>
                </a:solidFill>
              </a:rPr>
              <a:t>"Not replacing the nurse.  Backing them up."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</a:rPr>
              <a:t>Built on Modern AI and Web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556248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</a:rPr>
              <a:t>BUAN 6v99.s01  ·  UT Dallas  ·  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2926080" cy="429768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" y="1517904"/>
            <a:ext cx="281635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463040"/>
            <a:ext cx="8503920" cy="429768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9272" y="1517904"/>
            <a:ext cx="839419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92808"/>
            <a:ext cx="2926080" cy="429768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3192" y="1947672"/>
            <a:ext cx="281635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892808"/>
            <a:ext cx="8503920" cy="429768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19272" y="1947672"/>
            <a:ext cx="839419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React 18 + Vite 5  (JSX, custom CSS)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22576"/>
            <a:ext cx="2926080" cy="429768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3192" y="2377440"/>
            <a:ext cx="281635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2322576"/>
            <a:ext cx="8503920" cy="429768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19272" y="2377440"/>
            <a:ext cx="839419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Python 3.13  ·  FastAPI  ·  Uvicorn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752344"/>
            <a:ext cx="2926080" cy="429768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3192" y="2807208"/>
            <a:ext cx="281635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AI Agents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2752344"/>
            <a:ext cx="8503920" cy="429768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19272" y="2807208"/>
            <a:ext cx="839419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Anthropic Claude API  (Tool Use)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182112"/>
            <a:ext cx="2926080" cy="429768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3192" y="3236976"/>
            <a:ext cx="281635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Specialist 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3182112"/>
            <a:ext cx="8503920" cy="429768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19272" y="3236976"/>
            <a:ext cx="839419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Claude Haiku 4.5 — fast, parallel agents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611880"/>
            <a:ext cx="2926080" cy="429768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3192" y="3666744"/>
            <a:ext cx="281635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Synthesis 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3611880"/>
            <a:ext cx="8503920" cy="429768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19272" y="3666744"/>
            <a:ext cx="839419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Claude Sonnet 4.6 — final scoring and chat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041648"/>
            <a:ext cx="2926080" cy="429768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3192" y="4096512"/>
            <a:ext cx="281635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Streaming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4041648"/>
            <a:ext cx="8503920" cy="429768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19272" y="4096512"/>
            <a:ext cx="839419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Server-Sent Events (SSE)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471416"/>
            <a:ext cx="2926080" cy="429768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93192" y="4526280"/>
            <a:ext cx="281635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Concurrency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46120" y="4471416"/>
            <a:ext cx="8503920" cy="429768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19272" y="4526280"/>
            <a:ext cx="839419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Python ThreadPoolExecutor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901184"/>
            <a:ext cx="2926080" cy="429768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3192" y="4956048"/>
            <a:ext cx="281635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46120" y="4901184"/>
            <a:ext cx="8503920" cy="429768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319272" y="4956048"/>
            <a:ext cx="839419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Pydantic v2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330952"/>
            <a:ext cx="2926080" cy="429768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93192" y="5385816"/>
            <a:ext cx="281635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46120" y="5330952"/>
            <a:ext cx="8503920" cy="429768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19272" y="5385816"/>
            <a:ext cx="8394192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>
                <a:solidFill>
                  <a:srgbClr val="FFFFFF"/>
                </a:solidFill>
              </a:rPr>
              <a:t>Free Input and in-memory </a:t>
            </a:r>
            <a:r>
              <a:rPr sz="1400" b="0" i="0">
                <a:solidFill>
                  <a:srgbClr val="FFFFFF"/>
                </a:solidFill>
              </a:rPr>
              <a:t>mock</a:t>
            </a:r>
            <a:endParaRPr lang="en-US" sz="1400" b="0" i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Two-Tier Model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</a:rPr>
              <a:t>Right Model for the Right Job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556248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</a:rPr>
              <a:t>BUAN 6v99.s01  ·  UT Dallas  ·  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5303520" cy="4480560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303520" cy="50292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44475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</a:rPr>
              <a:t>Claude Haiku  —  Fast + Cost-Efficient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5029200" cy="53035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Vitals Analyzer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15768"/>
            <a:ext cx="5029200" cy="53035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8072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Symptom Classifier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74136"/>
            <a:ext cx="5029200" cy="53035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46557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Protocol Matcher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32504"/>
            <a:ext cx="5029200" cy="53035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12394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Bed Allocator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90872"/>
            <a:ext cx="5029200" cy="53035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7823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Runs in PARALLEL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1417320"/>
            <a:ext cx="5303520" cy="4480560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0" y="1417320"/>
            <a:ext cx="5303520" cy="502920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0" y="144475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Claude Sonnet  —  Accurate + Powerful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20840" y="2057400"/>
            <a:ext cx="5029200" cy="53035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0" y="21488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Final Synthesizer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2715768"/>
            <a:ext cx="5029200" cy="53035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0" y="28072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ESI Score Decision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3374136"/>
            <a:ext cx="5029200" cy="53035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0" y="346557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Action Plan Generation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4032504"/>
            <a:ext cx="5029200" cy="53035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0" y="412394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Conversational Chat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4690872"/>
            <a:ext cx="5029200" cy="53035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0" y="47823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Runs AFTER all 4 complete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320040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02B2B"/>
                </a:solidFill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60350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E8EFF8"/>
                </a:solidFill>
              </a:rPr>
              <a:t>Speed where it counts  ·  Quality where it matters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</a:rPr>
              <a:t>Six Agents, One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556248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</a:rPr>
              <a:t>BUAN 6v99.s01  ·  UT Dallas  ·  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25880"/>
            <a:ext cx="1920240" cy="475488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20640" y="13807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Nurse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84708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8EFF8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2194560"/>
            <a:ext cx="1920240" cy="475488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20640" y="22494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FastAPI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0428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8"/>
                </a:solidFill>
              </a:rPr>
              <a:t>get_patient_data() ──▶ Patient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060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8"/>
                </a:solidFill>
              </a:rPr>
              <a:t>search_protocols()  ──▶ Protocol Library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7157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8EFF8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090672"/>
            <a:ext cx="11521440" cy="274320"/>
          </a:xfrm>
          <a:prstGeom prst="rect">
            <a:avLst/>
          </a:prstGeom>
          <a:solidFill>
            <a:srgbClr val="0D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3090672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ThreadPoolExecutor  —  4 agents in parallel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5730" y="3427896"/>
            <a:ext cx="2286000" cy="8229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1450" y="34827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Vitals
Analyzer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8690" y="427828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A623"/>
                </a:solidFill>
              </a:rPr>
              <a:t>Haiku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06050" y="3427896"/>
            <a:ext cx="2286000" cy="8229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1770" y="34827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Symptom
Classifier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9010" y="427828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A623"/>
                </a:solidFill>
              </a:rPr>
              <a:t>Haiku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6370" y="3427896"/>
            <a:ext cx="2286000" cy="8229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2090" y="34827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Protocol
Matcher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9330" y="427828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A623"/>
                </a:solidFill>
              </a:rPr>
              <a:t>Haiku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26690" y="3427896"/>
            <a:ext cx="2286000" cy="8229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2410" y="34827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Bed
Allocator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49650" y="427828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A623"/>
                </a:solidFill>
              </a:rPr>
              <a:t>Haiku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9513" y="4552608"/>
            <a:ext cx="33843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FF8"/>
                </a:solidFill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8603" y="4985440"/>
            <a:ext cx="10224488" cy="436853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00901" y="4996276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Synthesizer  (Sonnet)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0172" y="55119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8EFF8"/>
                </a:solidFill>
              </a:rPr>
              <a:t>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5833872"/>
            <a:ext cx="6675120" cy="457200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88920" y="5888736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generate_triage_report()  →  Structured JSON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58704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EFF8"/>
                </a:solidFill>
              </a:rPr>
              <a:t>SSE stream → React UI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478258-9442-6416-0DE7-5F1AAF92F45D}"/>
              </a:ext>
            </a:extLst>
          </p:cNvPr>
          <p:cNvSpPr txBox="1"/>
          <p:nvPr/>
        </p:nvSpPr>
        <p:spPr>
          <a:xfrm>
            <a:off x="4579833" y="4561752"/>
            <a:ext cx="33843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FF8"/>
                </a:solidFill>
              </a:rPr>
              <a:t>▼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CB0007-0C05-7813-309E-CCFAE82E0F5B}"/>
              </a:ext>
            </a:extLst>
          </p:cNvPr>
          <p:cNvSpPr txBox="1"/>
          <p:nvPr/>
        </p:nvSpPr>
        <p:spPr>
          <a:xfrm>
            <a:off x="7185873" y="4534320"/>
            <a:ext cx="33843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FF8"/>
                </a:solidFill>
              </a:rPr>
              <a:t>▼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9C7080-FDA3-046A-D442-8497E6F8B8A4}"/>
              </a:ext>
            </a:extLst>
          </p:cNvPr>
          <p:cNvSpPr txBox="1"/>
          <p:nvPr/>
        </p:nvSpPr>
        <p:spPr>
          <a:xfrm>
            <a:off x="9700473" y="4534320"/>
            <a:ext cx="33843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FF8"/>
                </a:solidFill>
              </a:rPr>
              <a:t>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Six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</a:rPr>
              <a:t>Each Agent Has a Specialized Role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556248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</a:rPr>
              <a:t>BUAN 6v99.s01  ·  UT Dallas  ·  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2194560" cy="475488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" y="1517904"/>
            <a:ext cx="2084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463040"/>
            <a:ext cx="1371600" cy="475488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87752" y="1517904"/>
            <a:ext cx="1261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6200" y="1463040"/>
            <a:ext cx="8229600" cy="475488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59352" y="1517904"/>
            <a:ext cx="8119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938528"/>
            <a:ext cx="2194560" cy="475488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3192" y="1993392"/>
            <a:ext cx="2084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Vitals Analyzer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1938528"/>
            <a:ext cx="1371600" cy="475488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87752" y="1993392"/>
            <a:ext cx="1261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Haiku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1938528"/>
            <a:ext cx="8229600" cy="475488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59352" y="1993392"/>
            <a:ext cx="8119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Scores vital abnormalities 1–5, flags hemodynamic instability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14016"/>
            <a:ext cx="2194560" cy="475488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3192" y="2468880"/>
            <a:ext cx="2084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Symptom Classifier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14600" y="2414016"/>
            <a:ext cx="1371600" cy="475488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587752" y="2468880"/>
            <a:ext cx="1261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Haiku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2414016"/>
            <a:ext cx="8229600" cy="475488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59352" y="2468880"/>
            <a:ext cx="8119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Identifies red-flag presentations: ACS, stroke, sepsis, respiratory failure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889504"/>
            <a:ext cx="2194560" cy="475488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3192" y="2944368"/>
            <a:ext cx="2084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Protocol Matcher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2889504"/>
            <a:ext cx="1371600" cy="475488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87752" y="2944368"/>
            <a:ext cx="1261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Haiku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86200" y="2889504"/>
            <a:ext cx="8229600" cy="475488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59352" y="2944368"/>
            <a:ext cx="8119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Maps presentation to evidence-based protocols and ordered interventions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364992"/>
            <a:ext cx="2194560" cy="475488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3192" y="3419856"/>
            <a:ext cx="2084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Bed Allocator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14600" y="3364992"/>
            <a:ext cx="1371600" cy="475488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587752" y="3419856"/>
            <a:ext cx="1261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Haiku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86200" y="3364992"/>
            <a:ext cx="8229600" cy="475488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959352" y="3419856"/>
            <a:ext cx="8119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Recommends care area (trauma bay, resus, fast track) and required equipment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840480"/>
            <a:ext cx="2194560" cy="475488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3192" y="3895344"/>
            <a:ext cx="2084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Synthesizer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14600" y="3840480"/>
            <a:ext cx="1371600" cy="475488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87752" y="3895344"/>
            <a:ext cx="1261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Sonnet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86200" y="3840480"/>
            <a:ext cx="8229600" cy="475488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959352" y="3895344"/>
            <a:ext cx="8119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Integrates all findings into a final ESI score and action checklist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315968"/>
            <a:ext cx="2194560" cy="475488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93192" y="4370832"/>
            <a:ext cx="2084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Chat Agent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14600" y="4315968"/>
            <a:ext cx="1371600" cy="475488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587752" y="4370832"/>
            <a:ext cx="1261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Haiku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86200" y="4315968"/>
            <a:ext cx="8229600" cy="475488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959352" y="4370832"/>
            <a:ext cx="8119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Answers nurse follow-up questions with full report context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Anthropic Tool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</a:rPr>
              <a:t>Agents Don't Just Talk — They Call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556248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</a:rPr>
              <a:t>BUAN 6v99.s01  ·  UT Dallas  · 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FF8"/>
                </a:solidFill>
              </a:rPr>
              <a:t>Claude's Tool Use feature lets agents call structured functions mid-conversation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20240"/>
            <a:ext cx="3474720" cy="475488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" y="1975104"/>
            <a:ext cx="33649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Tool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1920240"/>
            <a:ext cx="8229600" cy="475488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67912" y="1975104"/>
            <a:ext cx="8119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 It Does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395728"/>
            <a:ext cx="3474720" cy="475488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3192" y="2450592"/>
            <a:ext cx="33649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get_patient_data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2395728"/>
            <a:ext cx="8229600" cy="475488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67912" y="2450592"/>
            <a:ext cx="8119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Fetches the full patient record by 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871216"/>
            <a:ext cx="3474720" cy="475488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3192" y="2926080"/>
            <a:ext cx="33649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search_protocols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94760" y="2871216"/>
            <a:ext cx="8229600" cy="475488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67912" y="2926080"/>
            <a:ext cx="8119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Keyword-matches clinical protocols to the chief complaint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46704"/>
            <a:ext cx="3474720" cy="475488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3192" y="3401568"/>
            <a:ext cx="33649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check_bed_availability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94760" y="3346704"/>
            <a:ext cx="8229600" cy="475488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67912" y="3401568"/>
            <a:ext cx="8119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Returns real-time bed counts by care area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822192"/>
            <a:ext cx="3474720" cy="475488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3192" y="3877056"/>
            <a:ext cx="33649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generate_triage_report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94760" y="3822192"/>
            <a:ext cx="8229600" cy="475488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67912" y="3877056"/>
            <a:ext cx="8119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Assembles and returns the structured report dict (Synthesizer only)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160520"/>
            <a:ext cx="11521440" cy="1691640"/>
          </a:xfrm>
          <a:prstGeom prst="rect">
            <a:avLst/>
          </a:prstGeom>
          <a:solidFill>
            <a:srgbClr val="0D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" y="4206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Agentic 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6634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Send message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46634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EFF8"/>
                </a:solidFill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6634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Tool call returned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6634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EFF8"/>
                </a:solidFill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46634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Dispatch function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6634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EFF8"/>
                </a:solidFill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6634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Re-submit result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46634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EFF8"/>
                </a:solidFill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46634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Repeat until done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5623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A623"/>
                </a:solidFill>
              </a:rPr>
              <a:t>Tool use enforces structured output — the final report is always machine-readable JSON, not LLM prose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Streaming &amp; Real-Time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</a:rPr>
              <a:t>The Nurse Sees Progress as It Happens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556248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</a:rPr>
              <a:t>BUAN 6v99.s01  ·  UT Dallas  · 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• Backend uses Server-Sent Events (SSE) — a persistent HTTP stream from server to browser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• As each specialist agent completes, a status event fires with the agent name and elapsed time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• UI displays a 6-agent grid: idle → active → done  (with per-agent completion time badge)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• Final complete event delivers the full report JSON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• No polling, no WebSockets — SSE is lightweight and browser-native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1371600"/>
            <a:ext cx="3931920" cy="4846320"/>
          </a:xfrm>
          <a:prstGeom prst="rect">
            <a:avLst/>
          </a:prstGeom>
          <a:solidFill>
            <a:srgbClr val="0D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14173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SSE Event Stream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828800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</a:rPr>
              <a:t>event: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76272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data: {"agent":"vitals","done":true,"time":1.2}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523744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92440" y="2871216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</a:rPr>
              <a:t>event: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218688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data: {"agent":"symptoms","done":true,"time":1.8}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566160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92440" y="3913632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</a:rPr>
              <a:t>event: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261104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data: {"agent":"protocol","done":true,"time":2.1}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608576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92440" y="4956048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event: complete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5303520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data: {"report":{...}}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56248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FF8"/>
                </a:solidFill>
              </a:rPr>
              <a:t>BUAN 6v99.s01  ·  UT Dallas  · 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TriageIQ Puts an AI Team Behind Every Nurse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28800"/>
            <a:ext cx="11064240" cy="731520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828800"/>
            <a:ext cx="91440" cy="7315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1.  Emergency triage is high-stakes and cognitively demanding — AI can reduce that burden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697480"/>
            <a:ext cx="11064240" cy="731520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2697480"/>
            <a:ext cx="91440" cy="7315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788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2.  A multi-agent architecture mirrors how real care teams operate: specialists in parallel, attending synthesizing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566160"/>
            <a:ext cx="11064240" cy="731520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1480" y="3566160"/>
            <a:ext cx="91440" cy="7315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657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3.  Tool use + structured output makes AI recommendations reliable and consistently renderable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434840"/>
            <a:ext cx="11064240" cy="731520"/>
          </a:xfrm>
          <a:prstGeom prst="rect">
            <a:avLst/>
          </a:prstGeom>
          <a:solidFill>
            <a:srgbClr val="12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4434840"/>
            <a:ext cx="91440" cy="7315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5262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4.  Decision-support framing keeps the nurse in command — the AI advises, the nurse decides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5577840"/>
            <a:ext cx="9418320" cy="658368"/>
          </a:xfrm>
          <a:prstGeom prst="rect">
            <a:avLst/>
          </a:prstGeom>
          <a:solidFill>
            <a:srgbClr val="E0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71600" y="5623560"/>
            <a:ext cx="9418320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2000" b="1" i="1">
                <a:solidFill>
                  <a:srgbClr val="FFFFFF"/>
                </a:solidFill>
              </a:rPr>
              <a:t>"Faster triage.  Better decisions.</a:t>
            </a:r>
            <a:r>
              <a:rPr lang="en-US" sz="2000" b="1" i="1">
                <a:solidFill>
                  <a:srgbClr val="FFFFFF"/>
                </a:solidFill>
              </a:rPr>
              <a:t>"</a:t>
            </a:r>
            <a:endParaRPr sz="2000" b="1" i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2026-04-22T15:45:18Z</dcterms:modified>
  <cp:category/>
</cp:coreProperties>
</file>